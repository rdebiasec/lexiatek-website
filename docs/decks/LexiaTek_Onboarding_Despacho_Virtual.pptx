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Poppins"/>
              </a:rPr>
              <a:t>LEXIATEK ·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400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Poppins"/>
              </a:rPr>
              <a:t>Cómo funciona el
despacho virtual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7F2"/>
                </a:solidFill>
                <a:latin typeface="Lato"/>
              </a:rPr>
              <a:t>Agentes dedicados · skills procesales · herramientas · tareas de inicio a cierre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914400"/>
            <a:ext cx="3886200" cy="489204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Poppins"/>
              </a:rPr>
              <a:t>EL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7" y="1874519"/>
            <a:ext cx="3200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</a:rPr>
              <a:t>1 Coordinador
9 especialistas
1 decisión humana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365760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7F2"/>
                </a:solidFill>
                <a:latin typeface="Lato"/>
              </a:rPr>
              <a:t>La IA propone.
La abogada revisa,
ajusta y aprueba.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Lato"/>
              </a:rPr>
              <a:t>Penal–víctimas · Colombia · Ley 906 de 2004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ONBOARDING DEL DESPACHO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Qué debe poder hacer al terminar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Una guía práctica, no una clase de ingeniería.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Onboarding del despacho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530352" cy="530352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530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373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Poppins"/>
              </a:rPr>
              <a:t>Entender: </a:t>
            </a:r>
            <a:r>
              <a:rPr sz="1600" b="0">
                <a:solidFill>
                  <a:srgbClr val="475569"/>
                </a:solidFill>
                <a:latin typeface="Lato"/>
              </a:rPr>
              <a:t>por qué existen agentes dedicados y cómo se reparten el trabajo.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32888"/>
            <a:ext cx="530352" cy="530352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530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57860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Poppins"/>
              </a:rPr>
              <a:t>Distinguir: </a:t>
            </a:r>
            <a:r>
              <a:rPr sz="1600" b="0">
                <a:solidFill>
                  <a:srgbClr val="475569"/>
                </a:solidFill>
                <a:latin typeface="Lato"/>
              </a:rPr>
              <a:t>un agente, un skill y una herramienta.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74136"/>
            <a:ext cx="530352" cy="530352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530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41985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Poppins"/>
              </a:rPr>
              <a:t>Pedir: </a:t>
            </a:r>
            <a:r>
              <a:rPr sz="1600" b="0">
                <a:solidFill>
                  <a:srgbClr val="475569"/>
                </a:solidFill>
                <a:latin typeface="Lato"/>
              </a:rPr>
              <a:t>una tarea en lenguaje natural con los insumos mínimos.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15384"/>
            <a:ext cx="530352" cy="530352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34256"/>
            <a:ext cx="530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6110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Poppins"/>
              </a:rPr>
              <a:t>Supervisar: </a:t>
            </a:r>
            <a:r>
              <a:rPr sz="1600" b="0">
                <a:solidFill>
                  <a:srgbClr val="475569"/>
                </a:solidFill>
                <a:latin typeface="Lato"/>
              </a:rPr>
              <a:t>qué agente responde, qué produce y dónde termina su responsabilidad.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56632"/>
            <a:ext cx="530352" cy="530352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75504"/>
            <a:ext cx="530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1023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Poppins"/>
              </a:rPr>
              <a:t>Cerrar: </a:t>
            </a:r>
            <a:r>
              <a:rPr sz="1600" b="0">
                <a:solidFill>
                  <a:srgbClr val="475569"/>
                </a:solidFill>
                <a:latin typeface="Lato"/>
              </a:rPr>
              <a:t>una tarea con revisión, aprobación, firma y seguimiento.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El concepto: agentes dedicados a funciones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Cada agente se comporta como un área del despacho con un mandato limitado.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Conceptos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2900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91440" cy="42062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Poppins"/>
              </a:rPr>
              <a:t>Agente generalista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2"/>
            <a:ext cx="3017520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Lato"/>
              </a:rPr>
              <a:t>Intenta responder de todo.
• Mezcla funciones
• Difícil saber quién hizo qué
• Más riesgo de omisiones
• Control de calidad difuso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91440" cy="4206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562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Poppins"/>
              </a:rPr>
              <a:t>Agente dedicado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21992"/>
            <a:ext cx="3017520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Lato"/>
              </a:rPr>
              <a:t>Tiene una responsabilidad concreta.
• Entradas definidas
• Procedimiento definido
• Salida esperada
• Límite explícito
• Trabajo auditable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42900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91640"/>
            <a:ext cx="91440" cy="420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562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Despacho coordinado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21992"/>
            <a:ext cx="3017520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Lato"/>
              </a:rPr>
              <a:t>Los agentes no compiten ni hablan todos a la vez.
El Coordinador asigna; los especialistas producen; Calidad revisa; la abogada decide.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Agente, skill y herramienta no son lo mismo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Tres capas que trabajan juntas para producir una salida jurídica controlada.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Conceptos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520440" cy="3611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91440" cy="3611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AGENTE = QUIÉN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3108960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Rol con mandato y responsabilidad.
Ej.: Ruta Procesal Ley 906 decide qué análisis procesal debe realizar.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24528" y="3401568"/>
            <a:ext cx="22860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737360"/>
            <a:ext cx="3520440" cy="3611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37360"/>
            <a:ext cx="91440" cy="3611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90195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Poppins"/>
              </a:rPr>
              <a:t>SKILL = CÓMO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67712"/>
            <a:ext cx="3108960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Playbook procedimental con propósito, entradas, pasos, salida y guardrails.
Ej.: identificar etapa procesal.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19288" y="3401568"/>
            <a:ext cx="22860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737360"/>
            <a:ext cx="3520440" cy="3611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737360"/>
            <a:ext cx="91440" cy="3611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90195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HERRAMIENTA = CON QUÉ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267712"/>
            <a:ext cx="3108960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Función para consultar expediente o conocimiento autorizado.
Ej.: buscar en expediente o leer normas clave.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2356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5157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Fórmula: el agente selecciona un skill, el skill usa herramientas y produce una salida revisable.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Qué contiene un skill procesal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Un skill convierte conocimiento jurídico en una tarea repetible y verificable.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Conceptos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91440" cy="16276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1. Propósito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2"/>
            <a:ext cx="31089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Qué problema resuelve.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91640"/>
            <a:ext cx="91440" cy="16276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562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2. Entradas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21992"/>
            <a:ext cx="31089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Hechos, documentos y contexto mínimos.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91640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91640"/>
            <a:ext cx="91440" cy="16276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8562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3. Pasos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21992"/>
            <a:ext cx="31089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Secuencia concreta de análisis.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59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566159"/>
            <a:ext cx="91440" cy="16276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30751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4. Salida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96511"/>
            <a:ext cx="31089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Producto prometido y formato.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66159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566159"/>
            <a:ext cx="91440" cy="16276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730751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5. 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096511"/>
            <a:ext cx="31089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Qué no inventar y cuándo detenerse.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566159"/>
            <a:ext cx="3520440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566159"/>
            <a:ext cx="91440" cy="16276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3730751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6. Handoff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96511"/>
            <a:ext cx="310896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Quién recibe el resultado después.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Lato"/>
              </a:rPr>
              <a:t>Ejemplo: identificar etapa Ley 906 → recibe actuaciones y fechas → contrasta expediente y playbook → entrega etapa, evidencia e incertidumbres.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Herramientas disponibles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Accesos implementados; no deben confundirse con capacidades futuras.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Conceptos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27632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9222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Buscar en expediente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57984"/>
            <a:ext cx="50292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Recupera hechos, documentos y actuaciones de la sesión vinculada.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27632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27632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79222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Buscar en conocimiento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57984"/>
            <a:ext cx="50292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Consulta la base jurídica y operativa autorizada.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44952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044952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095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Leer área de derecho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75304"/>
            <a:ext cx="50292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Carga el marco temático relevante para especialistas.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044952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044952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2095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Leer playbook del proceso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575304"/>
            <a:ext cx="50292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Consulta etapas y flujo canónico de la Ley 906.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62272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462272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2686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Leer normas clave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92624"/>
            <a:ext cx="50292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Recupera criterios y normas penales de referencia.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462272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462272"/>
            <a:ext cx="91440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62686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Listar áreas de derecho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992624"/>
            <a:ext cx="50292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Permite ubicar el área aplicable antes de profundizar.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925312"/>
            <a:ext cx="10972800" cy="34747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600760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Regla: si una herramienta o dato no existe, el sistema marca [PENDIENTE DE VERIFICAR]; no lo inventa.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EL DESPACHO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Qué es el despacho virtual LexiaTek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Una organización de trabajo penal–víctimas, no un chatbot que reemplaza a la abogada.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El despacho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Un sistema que recibe un objetivo jurídico, divide el trabajo por funciones, aplica procedimientos especializados y devuelve productos para decisión humana.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352044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91440" cy="2057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278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Alcance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93592"/>
            <a:ext cx="310896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Colombia · penal con enfoque en representación de víctimas · Ley 906.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063240"/>
            <a:ext cx="352044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063240"/>
            <a:ext cx="91440" cy="2057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2278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Cobertura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93592"/>
            <a:ext cx="310896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Hechos, tipicidad, ruta, víctimas, prueba, audiencias, escritos, seguimiento y calidad.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063240"/>
            <a:ext cx="352044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063240"/>
            <a:ext cx="91440" cy="2057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2278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Límite profesional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593592"/>
            <a:ext cx="310896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Lato"/>
              </a:rPr>
              <a:t>No firma, no radica, no promete resultados y no sustituye criterio profesional.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45309"/>
                </a:solidFill>
                <a:latin typeface="Poppins"/>
              </a:rPr>
              <a:t>Fuera del producto: tutela / vía constitucional y defensa del investigado.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EL DESPACHO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Cómo se organiza el despacho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Una sola voz hacia la abogada; trabajo modular y auditable por detrás.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El despacho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1874519" cy="2057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514600"/>
            <a:ext cx="16550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1. Abogada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081528"/>
            <a:ext cx="165506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CE7F2"/>
                </a:solidFill>
                <a:latin typeface="Lato"/>
              </a:rPr>
              <a:t>Define objetivo
y aporta contexto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0591" y="3154680"/>
            <a:ext cx="22860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61487" y="2240280"/>
            <a:ext cx="1874519" cy="2057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1215" y="2514600"/>
            <a:ext cx="16550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2. Coordinador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5" y="3081528"/>
            <a:ext cx="165506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CE7F2"/>
                </a:solidFill>
                <a:latin typeface="Lato"/>
              </a:rPr>
              <a:t>Clasifica, completa
y asigna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09158" y="3154680"/>
            <a:ext cx="22860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0054" y="2240280"/>
            <a:ext cx="1874519" cy="2057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9782" y="2514600"/>
            <a:ext cx="16550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3. Especialistas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2" y="3081528"/>
            <a:ext cx="165506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CE7F2"/>
                </a:solidFill>
                <a:latin typeface="Lato"/>
              </a:rPr>
              <a:t>Analizan o
producen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67725" y="3154680"/>
            <a:ext cx="22860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78621" y="2240280"/>
            <a:ext cx="1874519" cy="20574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49" y="2514600"/>
            <a:ext cx="16550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4. Calidad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49" y="3081528"/>
            <a:ext cx="165506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CE7F2"/>
                </a:solidFill>
                <a:latin typeface="Lato"/>
              </a:rPr>
              <a:t>Revisa soporte,
riesgo y tono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26292" y="3154680"/>
            <a:ext cx="22860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37188" y="2240280"/>
            <a:ext cx="1874519" cy="20574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16" y="2514600"/>
            <a:ext cx="16550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5. Abogada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6" y="3081528"/>
            <a:ext cx="165506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CE7F2"/>
                </a:solidFill>
                <a:latin typeface="Lato"/>
              </a:rPr>
              <a:t>Ajusta, aprueba,
firma o rechaza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Lato"/>
              </a:rPr>
              <a:t>Los especialistas no realizan handoffs entre sí ni hablan como personajes distintos. El Coordinador mantiene contexto, trazabilidad y voz única.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EL DESPACHO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El ciclo de vida de cualquier tarea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Saber dónde comienza y dónde termina evita expectativas incorrectas.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El despacho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65960"/>
            <a:ext cx="16916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9659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2084831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1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417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Lato"/>
              </a:rPr>
              <a:t>Qué necesita decidir o producir la abogada.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48840" y="3246120"/>
            <a:ext cx="18288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59152" y="1965960"/>
            <a:ext cx="16916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59152" y="19659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2304" y="2084831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Poppi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084831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Insumos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743200"/>
            <a:ext cx="1417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Lato"/>
              </a:rPr>
              <a:t>Hechos, documentos, etapa y fecha relevante.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246120"/>
            <a:ext cx="18288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06824" y="1965960"/>
            <a:ext cx="16916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06824" y="19659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6" y="2084831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Poppi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2084831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2743200"/>
            <a:ext cx="1417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Lato"/>
              </a:rPr>
              <a:t>Agentes, skills, dependencias y salida esperada.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044184" y="3246120"/>
            <a:ext cx="18288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4496" y="1965960"/>
            <a:ext cx="16916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54496" y="19659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2084831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Poppi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6" y="2084831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Ejecución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743200"/>
            <a:ext cx="1417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Lato"/>
              </a:rPr>
              <a:t>Consulta expediente/conocimiento y produce módulos.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991856" y="3246120"/>
            <a:ext cx="18288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02168" y="1965960"/>
            <a:ext cx="16916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02168" y="19659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084831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Poppi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2084831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2743200"/>
            <a:ext cx="1417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Lato"/>
              </a:rPr>
              <a:t>Calidad revisa soporte, coherencia, tono y riesgos.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939528" y="3246120"/>
            <a:ext cx="182880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49840" y="1965960"/>
            <a:ext cx="16916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149840" y="19659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22992" y="2084831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Poppin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2084831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Cierre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2743200"/>
            <a:ext cx="1417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Lato"/>
              </a:rPr>
              <a:t>La abogada aprueba, firma y crea seguimiento.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349240"/>
            <a:ext cx="10652760" cy="566928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04688"/>
            <a:ext cx="10378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Poppins"/>
              </a:rPr>
              <a:t>Terminar una tarea no siempre significa radicar: puede terminar en análisis, checklist, borrador, decisión o alerta.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LOS 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Los 10 roles del despacho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1 Coordinador + 8 áreas productoras + 1 puerta de calidad.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Los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27632"/>
            <a:ext cx="3886200" cy="658368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Coordinador del Caso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6B6D4"/>
                </a:solidFill>
                <a:latin typeface="Poppins"/>
              </a:rPr>
              <a:t>BASE FACTUAL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63240"/>
            <a:ext cx="352044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236976"/>
            <a:ext cx="33009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Poppins"/>
              </a:rPr>
              <a:t>Cronología y Hechos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13048"/>
            <a:ext cx="352044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986784"/>
            <a:ext cx="33009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Poppins"/>
              </a:rPr>
              <a:t>Evidencia y Pruebas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9748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6B6D4"/>
                </a:solidFill>
                <a:latin typeface="Poppins"/>
              </a:rPr>
              <a:t>ANÁLISIS JURÍDICO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063240"/>
            <a:ext cx="352044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236976"/>
            <a:ext cx="33009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Poppins"/>
              </a:rPr>
              <a:t>Tipicidad y Responsabilidad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813048"/>
            <a:ext cx="352044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986784"/>
            <a:ext cx="33009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Poppins"/>
              </a:rPr>
              <a:t>Ruta Procesal Ley 906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562856"/>
            <a:ext cx="352044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4736592"/>
            <a:ext cx="33009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Poppins"/>
              </a:rPr>
              <a:t>Representación de Víctimas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69748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6B6D4"/>
                </a:solidFill>
                <a:latin typeface="Poppins"/>
              </a:rPr>
              <a:t>PRODUCCIÓN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063240"/>
            <a:ext cx="352044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3236976"/>
            <a:ext cx="33009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Poppins"/>
              </a:rPr>
              <a:t>Audiencias Penales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813048"/>
            <a:ext cx="352044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3986784"/>
            <a:ext cx="33009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Poppins"/>
              </a:rPr>
              <a:t>Redacción de Documentos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4562856"/>
            <a:ext cx="3520440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4736592"/>
            <a:ext cx="33009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Poppins"/>
              </a:rPr>
              <a:t>Seguimiento Procesal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5623560"/>
            <a:ext cx="5715000" cy="530352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779008"/>
            <a:ext cx="5440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Control de Calidad Jurídica → puerta antes de la abogada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RESPONSABILIDADES Y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Coordinador del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Dirección operativa del expediente y voz única del despacho.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Responsabilidades 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914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Por qué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Evita respuestas dispersas, identifica urgencias y no permite avanzar con datos críticos incompletos.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Entrada →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Entrada: solicitud + expediente  →  Salida: ruta de trabajo, faltantes y siguiente paso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Poppins"/>
              </a:rPr>
              <a:t>RESPONSABILIDADES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Recibe la solicitud en lenguaje natural.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Clasifica tarea, etapa y prioridad.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Pide datos o documentos faltantes.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Asigna el trabajo al área correcta.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Consolida la respuesta para la abogada.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oppins"/>
              </a:rPr>
              <a:t>SKILLS CLAVE (PROCEDIMIENTOS)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Clasificar tarea y etapa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Detectar urgencia penal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Gestionar faltantes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Marcar pendientes de verificación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Actualizar tareas y responsable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Límite: No sustituye el análisis especializado ni la aprobación final.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RESPONSABILIDADES Y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Cronología y Hechos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Reconstrucción factual ordenada, trazable y verificable.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Responsabilidades 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914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Por qué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Una inconsistencia en fechas, actores o fuentes debilita tipicidad, escritos y credibilidad.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Entrada →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Entrada: relato + documentos  →  Salida: línea de tiempo, fuentes y preguntas faltantes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Poppins"/>
              </a:rPr>
              <a:t>RESPONSABILIDADES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Extrae hechos relevantes.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Ordena eventos por fecha y actor.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Separa confirmado, narrado e inferido.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 contradicciones y vacíos.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Construye matriz hecho–fuente.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oppins"/>
              </a:rPr>
              <a:t>SKILLS CLAVE (PROCEDIMIENTOS)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Construir cronología penal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Extraer hechos relevantes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Detectar contradicciones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Detectar vacíos factuales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Crear matriz hecho–fuente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Límite: No realiza la calificación penal definitiva.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RESPONSABILIDADES Y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Tipicidad y Responsabilidad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Análisis sustantivo preliminar de posibles conductas punibles.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Responsabilidades 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914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Por qué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Evita orientar actuaciones sobre hipótesis típicas débiles o sin soporte fáctico y probatorio.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Entrada →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Entrada: hechos + evidencia  →  Salida: hipótesis preliminar y brechas por probar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Poppins"/>
              </a:rPr>
              <a:t>RESPONSABILIDADES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Descompone elementos del tipo penal.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Mapea hecho, elemento y prueba.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Analiza autoría, participación y dolo/culpa.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Identifica agravantes y atenuantes.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Señala riesgos de atipicidad.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oppins"/>
              </a:rPr>
              <a:t>SKILLS CLAVE (PROCEDIMIENTOS)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Descomponer elementos del tipo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Identificar conductas preliminares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Mapear tipo–hecho–prueba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Analizar autoría y dolo/culpa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Detectar riesgos de atipicidad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Límite: No decide imputación, acusación ni estrategia final.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RESPONSABILIDADES Y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Ruta Procesal Ley 906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Ubicación de etapa, oportunidad y actuación posible para la víctima.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Responsabilidades 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914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Por qué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Reduce riesgos de extemporaneidad, improcedencia y solicitudes dirigidas al actor equivocado.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Entrada →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Entrada: estado + última actuación  →  Salida: etapa, opciones, riesgos y próximo paso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Poppins"/>
              </a:rPr>
              <a:t>RESPONSABILIDADES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Identifica etapa procesal Ley 906.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Mapea actuaciones posibles de la víctima.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Evalúa oportunidad y términos.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 riesgos procesales.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Propone una ruta recomendada.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oppins"/>
              </a:rPr>
              <a:t>SKILLS CLAVE (PROCEDIMIENTOS)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Identificar etapa Ley 906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Mapear actuaciones de la víctima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Evaluar oportunidad procesal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Control preliminar de términos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Crear ruta procesal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Límite: No sustituye el seguimiento operativo diario del radicado.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RESPONSABILIDADES Y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Representación de Víctimas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Estrategia centrada en derechos, intereses y no revictimización.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Responsabilidades 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914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Por qué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Una estrategia puede ser técnicamente correcta y aun así ignorar el objetivo real o el riesgo de la víctima.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Entrada →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Entrada: hechos + contexto de la víctima  →  Salida: objetivos y enfoque de representación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Poppins"/>
              </a:rPr>
              <a:t>RESPONSABILIDADES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Identifica intereses y derechos.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Construye teoría del caso de víctima.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Evalúa daño y afectación.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Aplica enfoque diferencial.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Prioriza objetivos sin revictimizar.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oppins"/>
              </a:rPr>
              <a:t>SKILLS CLAVE (PROCEDIMIENTOS)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Identificar intereses de la víctima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Construir teoría del caso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Analizar derechos de víctima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Detectar riesgo de revictimización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Priorizar objetivos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Límite: No promete resultados ni sustituye decisiones sensibles del despacho.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RESPONSABILIDADES Y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Evidencia y Pruebas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Gestión probatoria: inventario, soporte, brechas y plan de recaudo.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Responsabilidades 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914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Por qué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Sin trazabilidad y suficiencia probatoria, la teoría del caso pierde fuerza en escritos y audiencias.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Entrada →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Entrada: soportes + hechos  →  Salida: inventario, suficiencia y acciones de recaudo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Poppins"/>
              </a:rPr>
              <a:t>RESPONSABILIDADES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Inventaría y clasifica evidencia.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Construye matriz hecho–prueba.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 brechas probatorias.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Propone plan de recaudo.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Marca riesgos de evidencia digital y custodia.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oppins"/>
              </a:rPr>
              <a:t>SKILLS CLAVE (PROCEDIMIENTOS)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Inventariar evidencia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Clasificar tipo de prueba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Construir matriz hecho–prueba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Detectar brechas probatorias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Crear plan de recaudo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Límite: No reemplaza peritaje forense ni certifica cadena de custodia.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RESPONSABILIDADES Y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Audiencias Penales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Preparación táctica de la intervención de la víctima en audiencia.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Responsabilidades 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914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Por qué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Reduce improvisación, omisiones y preguntas que puedan revictimizar.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Entrada →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Entrada: tipo de audiencia + objetivo + prueba  →  Salida: guion, solicitudes y checklist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Poppins"/>
              </a:rPr>
              <a:t>RESPONSABILIDADES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Define objetivo jurídico y táctico.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Prepara guion y solicitudes orales.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Formula preguntas y contraargumentos.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Simula escenarios y riesgos.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Entrega checklist previo.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oppins"/>
              </a:rPr>
              <a:t>SKILLS CLAVE (PROCEDIMIENTOS)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Identificar objetivo de audiencia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Preparar guion oral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Preparar solicitudes y preguntas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Simular escenarios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Detectar riesgos de audiencia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Límite: No reemplaza la intervención oral de la abogada en estrados.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RESPONSABILIDADES Y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Redacción de Documentos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Producción de borradores jurídicos estructurados y revisables.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Responsabilidades 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914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Por qué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Acelera el primer borrador sin sacrificar estructura, soporte ni trazabilidad de pendientes.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Entrada →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Entrada: plan aprobado + insumos verificados  →  Salida: borrador para revisión y firma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Poppins"/>
              </a:rPr>
              <a:t>RESPONSABILIDADES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Redacta memoriales e impulsos.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Prepara derechos de petición penales.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Estructura hechos, fundamentos y solicitudes.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Marca citas, anexos o radicados por verificar.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Ajusta tono jurídico y separación hecho/inferencia.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oppins"/>
              </a:rPr>
              <a:t>SKILLS CLAVE (PROCEDIMIENTOS)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Redactar memorial penal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Redactar impulso procesal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Redactar derecho de petición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Estructurar hechos y solicitudes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Verificar citas normativas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Límite: Alto riesgo: nunca radica ni sustituye el criterio de firma.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RESPONSABILIDADES Y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Seguimiento Procesal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Continuidad operativa del expediente, actuaciones, audiencias y términos.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Responsabilidades 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914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Por qué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Evita pérdida de oportunidad por inactividad, falta de control o ausencia de alertas.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Entrada →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Entrada: radicado + actuaciones  →  Salida: estado, alertas, pendientes y responsable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Poppins"/>
              </a:rPr>
              <a:t>RESPONSABILIDADES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Registra actuaciones y radicados.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Controla audiencias y documentos enviados.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Genera alertas de términos.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 inactividad procesal.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Produce reporte de estado y tareas.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oppins"/>
              </a:rPr>
              <a:t>SKILLS CLAVE (PROCEDIMIENTOS)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Monitorear radicado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Registrar actuación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Generar alertas de términos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Detectar inactividad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Crear reporte de estado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Límite: No reemplaza el análisis jurídico estratégico de la actuación.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RESPONSABILIDADES Y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Control de Calidad Jurídica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Puerta de control antes de cualquier salida externa.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Responsabilidades y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64208"/>
            <a:ext cx="914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Por qué existe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Disminuye riesgo de hechos sin soporte, citas falsas, incoherencia, datos sensibles y revictimización.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257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6420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Entrada → 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Entrada: análisis o borrador  →  Salida: hallazgos, cambios exigidos y dictamen técnico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Poppins"/>
              </a:rPr>
              <a:t>RESPONSABILIDADES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Verifica soporte fáctico y citas.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 alucinaciones legales.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Revisa coherencia de estrategia y prueba.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Controla confidencialidad y tono.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Clasifica: aprobable, requiere cambios o rechazar.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27248"/>
            <a:ext cx="525780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oppins"/>
              </a:rPr>
              <a:t>SKILLS CLAVE (PROCEDIMIENTOS)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Verificar hechos y citas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Detectar alucinaciones legales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Controlar confidencialidad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Revisar coherencia estratégica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Lato"/>
              </a:rPr>
              <a:t>• Clasificar aprobación jurídica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60720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Poppins"/>
              </a:rPr>
              <a:t>Límite: No aprueba automáticamente ni reemplaza la responsabilidad profesional.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TAREAS PUNTUALES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Cómo escoger una tarea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Piense primero en el producto que necesita, no en el nombre técnico del agente.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Tareas puntuales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184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NECESIDAD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61848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PRODUCTO DE CIERRE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6184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ÁREA PRINCIPAL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75688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Lato"/>
              </a:rPr>
              <a:t>Necesito entender qué pasó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075688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Lato"/>
              </a:rPr>
              <a:t>Cronología + matriz hecho–fuente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75688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Lato"/>
              </a:rPr>
              <a:t>Cronología y Hechos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78608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34056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Lato"/>
              </a:rPr>
              <a:t>Necesito saber qué podría configurar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734056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Lato"/>
              </a:rPr>
              <a:t>Hipótesis + matriz tipo–hecho–prueba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3405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Lato"/>
              </a:rPr>
              <a:t>Tipicidad + Evidencia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36976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392424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Lato"/>
              </a:rPr>
              <a:t>Necesito saber qué hacer ahora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392424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Lato"/>
              </a:rPr>
              <a:t>Etapa + oportunidad +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92424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Lato"/>
              </a:rPr>
              <a:t>Ruta Procesal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95344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50792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Lato"/>
              </a:rPr>
              <a:t>Tengo audiencia próxima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050792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Lato"/>
              </a:rPr>
              <a:t>Guion + solicitudes +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050792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Lato"/>
              </a:rPr>
              <a:t>Audiencias + Calidad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53712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709160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Lato"/>
              </a:rPr>
              <a:t>Necesito presentar una pieza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709160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Lato"/>
              </a:rPr>
              <a:t>Plan + borrador + revisión + firma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70916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Lato"/>
              </a:rPr>
              <a:t>Redacción + Calidad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1208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67528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Lato"/>
              </a:rPr>
              <a:t>Necesito controlar el caso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5367528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Lato"/>
              </a:rPr>
              <a:t>Estado + alerta + tarea + responsable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367528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Lato"/>
              </a:rPr>
              <a:t>Seguimiento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TAREAS DE INICIO A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Tarea 1 · Abrir un caso y ordenar hechos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El objetivo es producir una base factual utilizable, no una conclusión penal apresurada.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Tareas de inicio a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91440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Cómo comienza — pida así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“Tengo una nueva víctima. Ordene los hechos, identifique urgencia y diga qué falta.”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9144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647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Insumos mínimos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3055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Relato inicial · fecha del último hecho · soportes · autoridad/radicado si existe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CADENA DE TRABAJO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6956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271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Coordinador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271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urgencia + faltantes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5439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0128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443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Cronología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443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línea de tiempo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611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300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615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Víctimas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615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intereses + riesgos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1783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6472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787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Calidad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787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hechos soportados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9204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9144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056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Productos esperados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42239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Cronología con fuentes · vacíos y preguntas · urgencia · objetivo preliminar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9204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892040"/>
            <a:ext cx="91440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056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Poppins"/>
              </a:rPr>
              <a:t>Cuándo termina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42239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Cuando la abogada valida la cronología y decide el siguiente análisis o actuación.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TAREAS DE INICIO A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Tarea 2 · Analizar tipicidad preliminar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La salida es una hipótesis de trabajo con soporte y riesgos, nunca una conclusión definitiva.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Tareas de inicio a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91440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Cómo comienza — pida así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“Mapee estos hechos contra posibles tipos penales y marque lo que falta probar.”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9144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647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Insumos mínimos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3055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Cronología validada · actores · conductas · soportes disponibles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CADENA DE TRABAJO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3542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857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Tipicidad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857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tipo–hecho–prueba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2025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714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029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Evidencia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029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brechas probatorias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5197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9886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201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Calidad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201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soporte + atipicidad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9204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9144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056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Productos esperados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2239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Hipótesis preliminares · matriz elemento–hecho–prueba · riesgos · preguntas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9204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892040"/>
            <a:ext cx="91440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056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Poppins"/>
              </a:rPr>
              <a:t>Cuándo termina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42239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Cuando la abogada acepta, ajusta o descarta hipótesis para definir estrategia.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TAREAS DE INICIO A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Tarea 3 · Preparar una audiencia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La preparación une etapa procesal, objetivo de víctima, prueba y táctica oral.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Tareas de inicio a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91440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Cómo comienza — pida así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“Prepare guion, solicitudes, riesgos y checklist para la audiencia de mañana.”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9144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647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Insumos mínimos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3055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Tipo y fecha de audiencia · objetivo · última actuación · prueba · riesgos de víctima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CADENA DE TRABAJO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6956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271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Ruta 906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271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etapa + oportunidad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5439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0128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443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Audiencias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443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guion + solicitudes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611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300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615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Víctimas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615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no revictimizar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1783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6472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787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Calidad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787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coherencia + riesgos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9204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9144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056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Productos esperados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42239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Resumen ejecutivo · guion · solicitudes · contraargumentos · checklist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9204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892040"/>
            <a:ext cx="91440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056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Poppins"/>
              </a:rPr>
              <a:t>Cuándo termina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42239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Cuando la abogada ensaya, ajusta el guion y llega con decisiones y documentos listos.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TAREAS DE INICIO A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Tarea 4 · Redactar un memorial de impulso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Una pieza escrita exige plan aprobado, insumos verificados y firma humana.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Tareas de inicio a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91440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Cómo comienza — pida así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“Prepare memorial de impulso por inactividad, con petición concreta.”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9144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647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Insumos mínimos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3055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Radicado · autoridad · última actuación · fecha · objetivo · anexos soporte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CADENA DE TRABAJO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6956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271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Seguimiento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271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inactividad + estado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5439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0128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443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Ruta 906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443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oportunidad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611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300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615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Redacción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615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hechos + fundamentos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1783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6472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787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Calidad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787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citas + soporte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9204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9144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056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Productos esperados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42239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Borrador estructurado · fuentes · anexos · pendientes claramente marcados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9204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892040"/>
            <a:ext cx="91440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056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Poppins"/>
              </a:rPr>
              <a:t>Cuándo termina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42239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Cuando la abogada resuelve pendientes, ajusta, aprueba, firma y ordena radicación.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TAREAS DE INICIO A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Tarea 5 · Cerrar con seguimiento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Toda actuación debe dejar estado, responsable, fecha y próximo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Tareas de inicio a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91440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Cómo comienza — pida así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“Registre lo radicado, cree alertas y prepare el próximo control del expediente.”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9144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647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Insumos mínimos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3055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Pieza final · constancia de radicación · fecha · autoridad · término esperado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CADENA DE TRABAJO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3542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857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Seguimiento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857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registro + alertas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2025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714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029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Coordinador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029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tarea + responsable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51978" y="3840480"/>
            <a:ext cx="201168" cy="201168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98867" y="3337560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2019" y="35478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Calidad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2019" y="4005072"/>
            <a:ext cx="191109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DCE7F2"/>
                </a:solidFill>
                <a:latin typeface="Lato"/>
              </a:rPr>
              <a:t>resumen operativo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9204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91440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056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Poppins"/>
              </a:rPr>
              <a:t>Productos esperados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2239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Actuación registrada · alerta · tarea asignada · reporte interno y próximo control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92040"/>
            <a:ext cx="53035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892040"/>
            <a:ext cx="91440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05663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Poppins"/>
              </a:rPr>
              <a:t>Cuándo termina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422392"/>
            <a:ext cx="48920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Lato"/>
              </a:rPr>
              <a:t>Cuando existe trazabilidad y una fecha concreta de revisión; no al enviar el documento.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Poppin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Controles que conserva la abogada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Lato"/>
              </a:rPr>
              <a:t>La automatización prepara; la responsabilidad profesional no se delega.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Lato"/>
              </a:rPr>
              <a:t>LexiaTek ·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Lato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52044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91440" cy="1645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Estrategia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2"/>
            <a:ext cx="310896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Define rumbo, pretensiones y prioridades.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52044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91640"/>
            <a:ext cx="91440" cy="1645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562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Hechos y fuentes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21992"/>
            <a:ext cx="310896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Valida lo confirmado y resuelve pendientes.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91640"/>
            <a:ext cx="352044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91640"/>
            <a:ext cx="91440" cy="1645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8562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Citas y radicados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21992"/>
            <a:ext cx="310896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Comprueba normas, autoridad, fechas y número.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11880"/>
            <a:ext cx="352044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611880"/>
            <a:ext cx="91440" cy="1645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7647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Tono y víctima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42232"/>
            <a:ext cx="310896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Evita revictimización y ajusta enfoque.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611880"/>
            <a:ext cx="352044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611880"/>
            <a:ext cx="91440" cy="1645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77647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Salida externa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142232"/>
            <a:ext cx="310896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Decide qué se comparte y con quién.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611880"/>
            <a:ext cx="352044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611880"/>
            <a:ext cx="91440" cy="1645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377647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oppins"/>
              </a:rPr>
              <a:t>Firma y radicación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142232"/>
            <a:ext cx="310896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Lato"/>
              </a:rPr>
              <a:t>Aprueba, firma y ordena seguimiento.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0160" y="5650992"/>
            <a:ext cx="9646920" cy="530352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5797296"/>
            <a:ext cx="9281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Regla de oro: la IA propone; la abogada revisa, ajusta y aprueba.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Poppins"/>
              </a:rPr>
              <a:t>LEXIATEK · DESPACHO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La forma correcta de trabajar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23160"/>
            <a:ext cx="10561320" cy="841248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65176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42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oppins"/>
              </a:rPr>
              <a:t>Pida el producto y aporte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587752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7F2"/>
                </a:solidFill>
                <a:latin typeface="Lato"/>
              </a:rPr>
              <a:t>Objetivo, hechos, documentos, etapa y fecha relevante.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74720"/>
            <a:ext cx="10561320" cy="841248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70332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59359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oppins"/>
              </a:rPr>
              <a:t>Deje que el despacho distribuya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639312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7F2"/>
                </a:solidFill>
                <a:latin typeface="Lato"/>
              </a:rPr>
              <a:t>Coordinador → especialistas → Calidad.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26280"/>
            <a:ext cx="10561320" cy="841248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7548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Poppi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64515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oppins"/>
              </a:rPr>
              <a:t>Cierre de forma profesional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690872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7F2"/>
                </a:solidFill>
                <a:latin typeface="Lato"/>
              </a:rPr>
              <a:t>Resuelva pendientes → ajuste → apruebe → firme → haga seguimiento.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Lato"/>
              </a:rPr>
              <a:t>Penal–víctimas · Colombia · Ley 906 · revisión humana obligatoria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GALERÍA MEMORABLE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Estilo B · Sello cómic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  <a:latin typeface="Calibri"/>
              </a:rPr>
              <a:t>Una métrica + una caricatura por cada slide del onboarding
(recorrido desde el final → al inicio)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28  ·  La forma correcta de trabajar  ·  1 regla</a:t>
            </a:r>
          </a:p>
        </p:txBody>
      </p:sp>
      <p:pic>
        <p:nvPicPr>
          <p:cNvPr id="4" name="Picture 3" descr="gB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27  ·  Controles que conserva la abogada  ·  6 controles</a:t>
            </a:r>
          </a:p>
        </p:txBody>
      </p:sp>
      <p:pic>
        <p:nvPicPr>
          <p:cNvPr id="4" name="Picture 3" descr="gB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26  ·  Cerrar con seguimiento  ·  4 datos</a:t>
            </a:r>
          </a:p>
        </p:txBody>
      </p:sp>
      <p:pic>
        <p:nvPicPr>
          <p:cNvPr id="4" name="Picture 3" descr="gB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25  ·  Redactar un memorial de impulso  ·  3 gates</a:t>
            </a:r>
          </a:p>
        </p:txBody>
      </p:sp>
      <p:pic>
        <p:nvPicPr>
          <p:cNvPr id="4" name="Picture 3" descr="gB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24  ·  Preparar una audiencia  ·  1 guion</a:t>
            </a:r>
          </a:p>
        </p:txBody>
      </p:sp>
      <p:pic>
        <p:nvPicPr>
          <p:cNvPr id="4" name="Picture 3" descr="gB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23  ·  Analizar tipicidad preliminar  ·  tipo↔hecho</a:t>
            </a:r>
          </a:p>
        </p:txBody>
      </p:sp>
      <p:pic>
        <p:nvPicPr>
          <p:cNvPr id="4" name="Picture 3" descr="gB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22  ·  Abrir un caso y ordenar hechos  ·  1 línea</a:t>
            </a:r>
          </a:p>
        </p:txBody>
      </p:sp>
      <p:pic>
        <p:nvPicPr>
          <p:cNvPr id="4" name="Picture 3" descr="gB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21  ·  Cómo escoger una tarea  ·  1 producto</a:t>
            </a:r>
          </a:p>
        </p:txBody>
      </p:sp>
      <p:pic>
        <p:nvPicPr>
          <p:cNvPr id="4" name="Picture 3" descr="gB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20  ·  Control de Calidad Jurídica  ·  1 puerta</a:t>
            </a:r>
          </a:p>
        </p:txBody>
      </p:sp>
      <p:pic>
        <p:nvPicPr>
          <p:cNvPr id="4" name="Picture 3" descr="gB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19  ·  Seguimiento Procesal  ·  0 olvidos</a:t>
            </a:r>
          </a:p>
        </p:txBody>
      </p:sp>
      <p:pic>
        <p:nvPicPr>
          <p:cNvPr id="4" name="Picture 3" descr="gB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18  ·  Redacción de Documentos  ·  1 borrador</a:t>
            </a:r>
          </a:p>
        </p:txBody>
      </p:sp>
      <p:pic>
        <p:nvPicPr>
          <p:cNvPr id="4" name="Picture 3" descr="gB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17  ·  Audiencias Penales  ·  3 piezas</a:t>
            </a:r>
          </a:p>
        </p:txBody>
      </p:sp>
      <p:pic>
        <p:nvPicPr>
          <p:cNvPr id="4" name="Picture 3" descr="gB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16  ·  Evidencia y Pruebas  ·  hecho↔prueba</a:t>
            </a:r>
          </a:p>
        </p:txBody>
      </p:sp>
      <p:pic>
        <p:nvPicPr>
          <p:cNvPr id="4" name="Picture 3" descr="gB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15  ·  Representación de Víctimas  ·  víctima 1º</a:t>
            </a:r>
          </a:p>
        </p:txBody>
      </p:sp>
      <p:pic>
        <p:nvPicPr>
          <p:cNvPr id="4" name="Picture 3" descr="gB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14  ·  Ruta Procesal Ley 906  ·  ¿qué etapa?</a:t>
            </a:r>
          </a:p>
        </p:txBody>
      </p:sp>
      <p:pic>
        <p:nvPicPr>
          <p:cNvPr id="4" name="Picture 3" descr="gB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13  ·  Tipicidad y Responsabilidad  ·  ¿tipifica?</a:t>
            </a:r>
          </a:p>
        </p:txBody>
      </p:sp>
      <p:pic>
        <p:nvPicPr>
          <p:cNvPr id="4" name="Picture 3" descr="gB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12  ·  Cronología y Hechos  ·  t0→tn</a:t>
            </a:r>
          </a:p>
        </p:txBody>
      </p:sp>
      <p:pic>
        <p:nvPicPr>
          <p:cNvPr id="4" name="Picture 3" descr="gB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11  ·  Coordinador del Caso  ·  1 voz</a:t>
            </a:r>
          </a:p>
        </p:txBody>
      </p:sp>
      <p:pic>
        <p:nvPicPr>
          <p:cNvPr id="4" name="Picture 3" descr="gB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10  ·  Los 10 roles del despacho  ·  10 roles</a:t>
            </a:r>
          </a:p>
        </p:txBody>
      </p:sp>
      <p:pic>
        <p:nvPicPr>
          <p:cNvPr id="4" name="Picture 3" descr="gB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09  ·  Ciclo de vida de cualquier tarea  ·  6 fases</a:t>
            </a:r>
          </a:p>
        </p:txBody>
      </p:sp>
      <p:pic>
        <p:nvPicPr>
          <p:cNvPr id="4" name="Picture 3" descr="gB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08  ·  Cómo se organiza el despacho  ·  1 canal</a:t>
            </a:r>
          </a:p>
        </p:txBody>
      </p:sp>
      <p:pic>
        <p:nvPicPr>
          <p:cNvPr id="4" name="Picture 3" descr="gB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07  ·  Qué es el despacho virtual LexiaTek  ·  ≠ chatbot</a:t>
            </a:r>
          </a:p>
        </p:txBody>
      </p:sp>
      <p:pic>
        <p:nvPicPr>
          <p:cNvPr id="4" name="Picture 3" descr="gB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06  ·  Herramientas disponibles hoy  ·  tools hoy</a:t>
            </a:r>
          </a:p>
        </p:txBody>
      </p:sp>
      <p:pic>
        <p:nvPicPr>
          <p:cNvPr id="4" name="Picture 3" descr="gB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05  ·  Qué contiene un skill procesal  ·  1 skill</a:t>
            </a:r>
          </a:p>
        </p:txBody>
      </p:sp>
      <p:pic>
        <p:nvPicPr>
          <p:cNvPr id="4" name="Picture 3" descr="gB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04  ·  Agente, skill y herramienta  ·  3 capas</a:t>
            </a:r>
          </a:p>
        </p:txBody>
      </p:sp>
      <p:pic>
        <p:nvPicPr>
          <p:cNvPr id="4" name="Picture 3" descr="gB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03  ·  Agentes dedicados a funciones  ·  1 mandato</a:t>
            </a:r>
          </a:p>
        </p:txBody>
      </p:sp>
      <p:pic>
        <p:nvPicPr>
          <p:cNvPr id="4" name="Picture 3" descr="gB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02  ·  Qué debe poder hacer al terminar  ·  al salir</a:t>
            </a:r>
          </a:p>
        </p:txBody>
      </p:sp>
      <p:pic>
        <p:nvPicPr>
          <p:cNvPr id="4" name="Picture 3" descr="gB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RECUERDA · Slide 01  ·  Cómo funciona el despacho virtual  ·  onboarding</a:t>
            </a:r>
          </a:p>
        </p:txBody>
      </p:sp>
      <p:pic>
        <p:nvPicPr>
          <p:cNvPr id="4" name="Picture 3" descr="gB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680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